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3" r:id="rId2"/>
    <p:sldId id="260" r:id="rId3"/>
    <p:sldId id="264" r:id="rId4"/>
    <p:sldId id="270" r:id="rId5"/>
    <p:sldId id="287" r:id="rId6"/>
    <p:sldId id="281" r:id="rId7"/>
    <p:sldId id="279" r:id="rId8"/>
    <p:sldId id="285" r:id="rId9"/>
    <p:sldId id="286" r:id="rId10"/>
    <p:sldId id="275" r:id="rId11"/>
    <p:sldId id="284" r:id="rId12"/>
    <p:sldId id="282" r:id="rId13"/>
    <p:sldId id="283" r:id="rId14"/>
    <p:sldId id="269" r:id="rId15"/>
    <p:sldId id="271" r:id="rId16"/>
    <p:sldId id="278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AFF2D-0C96-B945-BC7E-1CE39BD23A80}" v="15" dt="2026-07-27T20:22:07.1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7"/>
    <p:restoredTop sz="94813"/>
  </p:normalViewPr>
  <p:slideViewPr>
    <p:cSldViewPr>
      <p:cViewPr varScale="1">
        <p:scale>
          <a:sx n="69" d="100"/>
          <a:sy n="69" d="100"/>
        </p:scale>
        <p:origin x="240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lipe Romero Bernal" userId="d29dba75d7369b69" providerId="LiveId" clId="{06E6C3CC-26FD-5E68-B402-655CE2F8189A}"/>
    <pc:docChg chg="undo custSel addSld delSld modSld sldOrd">
      <pc:chgData name="Daniel Felipe Romero Bernal" userId="d29dba75d7369b69" providerId="LiveId" clId="{06E6C3CC-26FD-5E68-B402-655CE2F8189A}" dt="2026-07-27T20:22:08.284" v="2982" actId="20577"/>
      <pc:docMkLst>
        <pc:docMk/>
      </pc:docMkLst>
      <pc:sldChg chg="addSp delSp modSp mod ord">
        <pc:chgData name="Daniel Felipe Romero Bernal" userId="d29dba75d7369b69" providerId="LiveId" clId="{06E6C3CC-26FD-5E68-B402-655CE2F8189A}" dt="2026-07-27T20:22:08.284" v="2982" actId="20577"/>
        <pc:sldMkLst>
          <pc:docMk/>
          <pc:sldMk cId="1370713261" sldId="264"/>
        </pc:sldMkLst>
        <pc:spChg chg="mod">
          <ac:chgData name="Daniel Felipe Romero Bernal" userId="d29dba75d7369b69" providerId="LiveId" clId="{06E6C3CC-26FD-5E68-B402-655CE2F8189A}" dt="2026-07-27T20:22:08.284" v="2982" actId="20577"/>
          <ac:spMkLst>
            <pc:docMk/>
            <pc:sldMk cId="1370713261" sldId="264"/>
            <ac:spMk id="3" creationId="{6C7362E0-2DF9-8CF5-76FF-0073C27BC75F}"/>
          </ac:spMkLst>
        </pc:spChg>
      </pc:sldChg>
      <pc:sldChg chg="modSp mod">
        <pc:chgData name="Daniel Felipe Romero Bernal" userId="d29dba75d7369b69" providerId="LiveId" clId="{06E6C3CC-26FD-5E68-B402-655CE2F8189A}" dt="2026-07-25T15:46:00.188" v="2794" actId="20577"/>
        <pc:sldMkLst>
          <pc:docMk/>
          <pc:sldMk cId="540183182" sldId="270"/>
        </pc:sldMkLst>
        <pc:spChg chg="mod">
          <ac:chgData name="Daniel Felipe Romero Bernal" userId="d29dba75d7369b69" providerId="LiveId" clId="{06E6C3CC-26FD-5E68-B402-655CE2F8189A}" dt="2026-07-25T15:46:00.188" v="2794" actId="20577"/>
          <ac:spMkLst>
            <pc:docMk/>
            <pc:sldMk cId="540183182" sldId="270"/>
            <ac:spMk id="17" creationId="{1231F295-117F-3356-8D39-011C0BCF8927}"/>
          </ac:spMkLst>
        </pc:spChg>
      </pc:sldChg>
      <pc:sldChg chg="addSp delSp modSp mod">
        <pc:chgData name="Daniel Felipe Romero Bernal" userId="d29dba75d7369b69" providerId="LiveId" clId="{06E6C3CC-26FD-5E68-B402-655CE2F8189A}" dt="2026-07-25T16:08:36.008" v="2892" actId="1076"/>
        <pc:sldMkLst>
          <pc:docMk/>
          <pc:sldMk cId="3434797706" sldId="281"/>
        </pc:sldMkLst>
        <pc:spChg chg="mod">
          <ac:chgData name="Daniel Felipe Romero Bernal" userId="d29dba75d7369b69" providerId="LiveId" clId="{06E6C3CC-26FD-5E68-B402-655CE2F8189A}" dt="2026-07-25T16:04:25.755" v="2868" actId="20577"/>
          <ac:spMkLst>
            <pc:docMk/>
            <pc:sldMk cId="3434797706" sldId="281"/>
            <ac:spMk id="3" creationId="{B9E5DD27-0816-52D7-FCC9-E73C4BEEBC3F}"/>
          </ac:spMkLst>
        </pc:spChg>
        <pc:spChg chg="mod">
          <ac:chgData name="Daniel Felipe Romero Bernal" userId="d29dba75d7369b69" providerId="LiveId" clId="{06E6C3CC-26FD-5E68-B402-655CE2F8189A}" dt="2026-07-25T15:54:05.383" v="2840" actId="1035"/>
          <ac:spMkLst>
            <pc:docMk/>
            <pc:sldMk cId="3434797706" sldId="281"/>
            <ac:spMk id="8" creationId="{6A315465-B5E0-4B44-C9EC-0E2C1A43644D}"/>
          </ac:spMkLst>
        </pc:spChg>
        <pc:spChg chg="mod">
          <ac:chgData name="Daniel Felipe Romero Bernal" userId="d29dba75d7369b69" providerId="LiveId" clId="{06E6C3CC-26FD-5E68-B402-655CE2F8189A}" dt="2026-07-25T15:54:15.952" v="2842" actId="14100"/>
          <ac:spMkLst>
            <pc:docMk/>
            <pc:sldMk cId="3434797706" sldId="281"/>
            <ac:spMk id="9" creationId="{0DBC5F10-BC8D-AA58-A527-876BA2F12B3F}"/>
          </ac:spMkLst>
        </pc:spChg>
        <pc:spChg chg="mod">
          <ac:chgData name="Daniel Felipe Romero Bernal" userId="d29dba75d7369b69" providerId="LiveId" clId="{06E6C3CC-26FD-5E68-B402-655CE2F8189A}" dt="2026-07-25T16:01:11.604" v="2860" actId="14100"/>
          <ac:spMkLst>
            <pc:docMk/>
            <pc:sldMk cId="3434797706" sldId="281"/>
            <ac:spMk id="10" creationId="{725501CB-CFB3-D6A2-BE1D-CC885CF26339}"/>
          </ac:spMkLst>
        </pc:spChg>
        <pc:spChg chg="mod">
          <ac:chgData name="Daniel Felipe Romero Bernal" userId="d29dba75d7369b69" providerId="LiveId" clId="{06E6C3CC-26FD-5E68-B402-655CE2F8189A}" dt="2026-07-25T15:54:32.902" v="2846" actId="1076"/>
          <ac:spMkLst>
            <pc:docMk/>
            <pc:sldMk cId="3434797706" sldId="281"/>
            <ac:spMk id="11" creationId="{19E068EF-41B9-ABB4-A1DA-407CC8031E53}"/>
          </ac:spMkLst>
        </pc:spChg>
        <pc:spChg chg="mod">
          <ac:chgData name="Daniel Felipe Romero Bernal" userId="d29dba75d7369b69" providerId="LiveId" clId="{06E6C3CC-26FD-5E68-B402-655CE2F8189A}" dt="2026-07-25T16:00:43.512" v="2856" actId="14100"/>
          <ac:spMkLst>
            <pc:docMk/>
            <pc:sldMk cId="3434797706" sldId="281"/>
            <ac:spMk id="12" creationId="{93DBC876-ACB5-0BA9-EA22-9C36CA99A808}"/>
          </ac:spMkLst>
        </pc:spChg>
        <pc:spChg chg="add mod">
          <ac:chgData name="Daniel Felipe Romero Bernal" userId="d29dba75d7369b69" providerId="LiveId" clId="{06E6C3CC-26FD-5E68-B402-655CE2F8189A}" dt="2026-07-25T15:53:25.693" v="2816" actId="164"/>
          <ac:spMkLst>
            <pc:docMk/>
            <pc:sldMk cId="3434797706" sldId="281"/>
            <ac:spMk id="19" creationId="{A0F6A100-3B44-77F5-07C0-A27B246A2084}"/>
          </ac:spMkLst>
        </pc:spChg>
        <pc:spChg chg="add mod">
          <ac:chgData name="Daniel Felipe Romero Bernal" userId="d29dba75d7369b69" providerId="LiveId" clId="{06E6C3CC-26FD-5E68-B402-655CE2F8189A}" dt="2026-07-25T16:07:29.811" v="2880" actId="207"/>
          <ac:spMkLst>
            <pc:docMk/>
            <pc:sldMk cId="3434797706" sldId="281"/>
            <ac:spMk id="22" creationId="{D33675F7-7AB8-D2D8-2087-03669690C973}"/>
          </ac:spMkLst>
        </pc:spChg>
        <pc:spChg chg="add mod">
          <ac:chgData name="Daniel Felipe Romero Bernal" userId="d29dba75d7369b69" providerId="LiveId" clId="{06E6C3CC-26FD-5E68-B402-655CE2F8189A}" dt="2026-07-25T16:07:39.211" v="2882" actId="1076"/>
          <ac:spMkLst>
            <pc:docMk/>
            <pc:sldMk cId="3434797706" sldId="281"/>
            <ac:spMk id="24" creationId="{52B63351-8226-5EA5-F56D-C9D0645A3874}"/>
          </ac:spMkLst>
        </pc:spChg>
        <pc:spChg chg="add mod">
          <ac:chgData name="Daniel Felipe Romero Bernal" userId="d29dba75d7369b69" providerId="LiveId" clId="{06E6C3CC-26FD-5E68-B402-655CE2F8189A}" dt="2026-07-25T16:07:48.270" v="2884" actId="1076"/>
          <ac:spMkLst>
            <pc:docMk/>
            <pc:sldMk cId="3434797706" sldId="281"/>
            <ac:spMk id="25" creationId="{35227A0B-26D3-4E57-F50F-CB9BDB45BCA3}"/>
          </ac:spMkLst>
        </pc:spChg>
        <pc:spChg chg="add mod">
          <ac:chgData name="Daniel Felipe Romero Bernal" userId="d29dba75d7369b69" providerId="LiveId" clId="{06E6C3CC-26FD-5E68-B402-655CE2F8189A}" dt="2026-07-25T16:07:55.077" v="2886" actId="1076"/>
          <ac:spMkLst>
            <pc:docMk/>
            <pc:sldMk cId="3434797706" sldId="281"/>
            <ac:spMk id="26" creationId="{701FB0AF-FF3D-C355-D7AC-5A73F0F1C306}"/>
          </ac:spMkLst>
        </pc:spChg>
        <pc:spChg chg="add mod">
          <ac:chgData name="Daniel Felipe Romero Bernal" userId="d29dba75d7369b69" providerId="LiveId" clId="{06E6C3CC-26FD-5E68-B402-655CE2F8189A}" dt="2026-07-25T16:08:28.177" v="2889" actId="1076"/>
          <ac:spMkLst>
            <pc:docMk/>
            <pc:sldMk cId="3434797706" sldId="281"/>
            <ac:spMk id="27" creationId="{C4BA548A-0B11-6521-3B09-9BAB8151B324}"/>
          </ac:spMkLst>
        </pc:spChg>
        <pc:spChg chg="add mod">
          <ac:chgData name="Daniel Felipe Romero Bernal" userId="d29dba75d7369b69" providerId="LiveId" clId="{06E6C3CC-26FD-5E68-B402-655CE2F8189A}" dt="2026-07-25T16:08:36.008" v="2892" actId="1076"/>
          <ac:spMkLst>
            <pc:docMk/>
            <pc:sldMk cId="3434797706" sldId="281"/>
            <ac:spMk id="28" creationId="{F371A1D7-9E8B-AC20-EEC6-0715369C6E33}"/>
          </ac:spMkLst>
        </pc:spChg>
        <pc:grpChg chg="add mod">
          <ac:chgData name="Daniel Felipe Romero Bernal" userId="d29dba75d7369b69" providerId="LiveId" clId="{06E6C3CC-26FD-5E68-B402-655CE2F8189A}" dt="2026-07-25T16:01:20.295" v="2863" actId="1076"/>
          <ac:grpSpMkLst>
            <pc:docMk/>
            <pc:sldMk cId="3434797706" sldId="281"/>
            <ac:grpSpMk id="20" creationId="{500338B5-285A-29B5-8BA9-CCFE0900E8A6}"/>
          </ac:grpSpMkLst>
        </pc:grpChg>
        <pc:picChg chg="add mod">
          <ac:chgData name="Daniel Felipe Romero Bernal" userId="d29dba75d7369b69" providerId="LiveId" clId="{06E6C3CC-26FD-5E68-B402-655CE2F8189A}" dt="2026-07-25T15:53:25.693" v="2816" actId="164"/>
          <ac:picMkLst>
            <pc:docMk/>
            <pc:sldMk cId="3434797706" sldId="281"/>
            <ac:picMk id="14" creationId="{BA8BA94E-5929-6FA9-2446-C441C75746EA}"/>
          </ac:picMkLst>
        </pc:picChg>
        <pc:picChg chg="mod">
          <ac:chgData name="Daniel Felipe Romero Bernal" userId="d29dba75d7369b69" providerId="LiveId" clId="{06E6C3CC-26FD-5E68-B402-655CE2F8189A}" dt="2026-07-25T16:01:15.112" v="2861" actId="1076"/>
          <ac:picMkLst>
            <pc:docMk/>
            <pc:sldMk cId="3434797706" sldId="281"/>
            <ac:picMk id="15" creationId="{049E60DF-17C2-DBA8-4356-284C1B43A72E}"/>
          </ac:picMkLst>
        </pc:picChg>
        <pc:picChg chg="mod">
          <ac:chgData name="Daniel Felipe Romero Bernal" userId="d29dba75d7369b69" providerId="LiveId" clId="{06E6C3CC-26FD-5E68-B402-655CE2F8189A}" dt="2026-07-25T16:01:24.713" v="2864" actId="1076"/>
          <ac:picMkLst>
            <pc:docMk/>
            <pc:sldMk cId="3434797706" sldId="281"/>
            <ac:picMk id="16" creationId="{02BE37E7-25AF-269C-E9CB-BE4AFEFE3DB6}"/>
          </ac:picMkLst>
        </pc:picChg>
        <pc:picChg chg="mod">
          <ac:chgData name="Daniel Felipe Romero Bernal" userId="d29dba75d7369b69" providerId="LiveId" clId="{06E6C3CC-26FD-5E68-B402-655CE2F8189A}" dt="2026-07-25T16:00:45.814" v="2857" actId="1076"/>
          <ac:picMkLst>
            <pc:docMk/>
            <pc:sldMk cId="3434797706" sldId="281"/>
            <ac:picMk id="17" creationId="{5B975108-2C54-B756-C88E-18F875E5E571}"/>
          </ac:picMkLst>
        </pc:picChg>
        <pc:picChg chg="add mod">
          <ac:chgData name="Daniel Felipe Romero Bernal" userId="d29dba75d7369b69" providerId="LiveId" clId="{06E6C3CC-26FD-5E68-B402-655CE2F8189A}" dt="2026-07-25T15:53:25.693" v="2816" actId="164"/>
          <ac:picMkLst>
            <pc:docMk/>
            <pc:sldMk cId="3434797706" sldId="281"/>
            <ac:picMk id="18" creationId="{C1E06D3C-4015-251E-2066-9045A27D2B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B7F52-394D-2642-9698-D62367F33A53}" type="datetimeFigureOut">
              <a:rPr lang="en-CO" smtClean="0"/>
              <a:t>27/07/26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11E2F-A495-E543-9F2D-C0E881D59AD6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851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11E2F-A495-E543-9F2D-C0E881D59AD6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553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E16898-B18B-0579-3F18-4E3DD0C41F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68C4E6A5-37A9-CA41-CFFE-0D02790DBBD3}"/>
              </a:ext>
            </a:extLst>
          </p:cNvPr>
          <p:cNvSpPr/>
          <p:nvPr userDrawn="1"/>
        </p:nvSpPr>
        <p:spPr>
          <a:xfrm>
            <a:off x="528620" y="1710786"/>
            <a:ext cx="19047460" cy="9072245"/>
          </a:xfrm>
          <a:custGeom>
            <a:avLst/>
            <a:gdLst/>
            <a:ahLst/>
            <a:cxnLst/>
            <a:rect l="l" t="t" r="r" b="b"/>
            <a:pathLst>
              <a:path w="19047460" h="9072245">
                <a:moveTo>
                  <a:pt x="18703776" y="0"/>
                </a:moveTo>
                <a:lnTo>
                  <a:pt x="343078" y="0"/>
                </a:lnTo>
                <a:lnTo>
                  <a:pt x="296526" y="3131"/>
                </a:lnTo>
                <a:lnTo>
                  <a:pt x="251876" y="12254"/>
                </a:lnTo>
                <a:lnTo>
                  <a:pt x="209539" y="26960"/>
                </a:lnTo>
                <a:lnTo>
                  <a:pt x="169923" y="46839"/>
                </a:lnTo>
                <a:lnTo>
                  <a:pt x="133436" y="71483"/>
                </a:lnTo>
                <a:lnTo>
                  <a:pt x="100487" y="100483"/>
                </a:lnTo>
                <a:lnTo>
                  <a:pt x="71486" y="133431"/>
                </a:lnTo>
                <a:lnTo>
                  <a:pt x="46841" y="169918"/>
                </a:lnTo>
                <a:lnTo>
                  <a:pt x="26961" y="209535"/>
                </a:lnTo>
                <a:lnTo>
                  <a:pt x="12255" y="251873"/>
                </a:lnTo>
                <a:lnTo>
                  <a:pt x="3132" y="296523"/>
                </a:lnTo>
                <a:lnTo>
                  <a:pt x="0" y="343078"/>
                </a:lnTo>
                <a:lnTo>
                  <a:pt x="0" y="8728969"/>
                </a:lnTo>
                <a:lnTo>
                  <a:pt x="3132" y="8775522"/>
                </a:lnTo>
                <a:lnTo>
                  <a:pt x="12255" y="8820171"/>
                </a:lnTo>
                <a:lnTo>
                  <a:pt x="26961" y="8862508"/>
                </a:lnTo>
                <a:lnTo>
                  <a:pt x="46841" y="8902125"/>
                </a:lnTo>
                <a:lnTo>
                  <a:pt x="71486" y="8938612"/>
                </a:lnTo>
                <a:lnTo>
                  <a:pt x="100487" y="8971560"/>
                </a:lnTo>
                <a:lnTo>
                  <a:pt x="133436" y="9000561"/>
                </a:lnTo>
                <a:lnTo>
                  <a:pt x="169923" y="9025206"/>
                </a:lnTo>
                <a:lnTo>
                  <a:pt x="209539" y="9045086"/>
                </a:lnTo>
                <a:lnTo>
                  <a:pt x="251876" y="9059792"/>
                </a:lnTo>
                <a:lnTo>
                  <a:pt x="296526" y="9068916"/>
                </a:lnTo>
                <a:lnTo>
                  <a:pt x="343078" y="9072048"/>
                </a:lnTo>
                <a:lnTo>
                  <a:pt x="18703776" y="9072048"/>
                </a:lnTo>
                <a:lnTo>
                  <a:pt x="18750330" y="9068916"/>
                </a:lnTo>
                <a:lnTo>
                  <a:pt x="18794981" y="9059792"/>
                </a:lnTo>
                <a:lnTo>
                  <a:pt x="18837319" y="9045086"/>
                </a:lnTo>
                <a:lnTo>
                  <a:pt x="18876936" y="9025206"/>
                </a:lnTo>
                <a:lnTo>
                  <a:pt x="18913422" y="9000561"/>
                </a:lnTo>
                <a:lnTo>
                  <a:pt x="18946370" y="8971560"/>
                </a:lnTo>
                <a:lnTo>
                  <a:pt x="18975371" y="8938612"/>
                </a:lnTo>
                <a:lnTo>
                  <a:pt x="19000015" y="8902125"/>
                </a:lnTo>
                <a:lnTo>
                  <a:pt x="19019894" y="8862508"/>
                </a:lnTo>
                <a:lnTo>
                  <a:pt x="19034599" y="8820171"/>
                </a:lnTo>
                <a:lnTo>
                  <a:pt x="19043722" y="8775522"/>
                </a:lnTo>
                <a:lnTo>
                  <a:pt x="19046854" y="8728969"/>
                </a:lnTo>
                <a:lnTo>
                  <a:pt x="19046854" y="343078"/>
                </a:lnTo>
                <a:lnTo>
                  <a:pt x="19043722" y="296523"/>
                </a:lnTo>
                <a:lnTo>
                  <a:pt x="19034599" y="251873"/>
                </a:lnTo>
                <a:lnTo>
                  <a:pt x="19019894" y="209535"/>
                </a:lnTo>
                <a:lnTo>
                  <a:pt x="19000015" y="169918"/>
                </a:lnTo>
                <a:lnTo>
                  <a:pt x="18975371" y="133431"/>
                </a:lnTo>
                <a:lnTo>
                  <a:pt x="18946370" y="100483"/>
                </a:lnTo>
                <a:lnTo>
                  <a:pt x="18913422" y="71483"/>
                </a:lnTo>
                <a:lnTo>
                  <a:pt x="18876936" y="46839"/>
                </a:lnTo>
                <a:lnTo>
                  <a:pt x="18837319" y="26960"/>
                </a:lnTo>
                <a:lnTo>
                  <a:pt x="18794981" y="12254"/>
                </a:lnTo>
                <a:lnTo>
                  <a:pt x="18750330" y="3131"/>
                </a:lnTo>
                <a:lnTo>
                  <a:pt x="18703776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610A72-35FF-D95D-1EC0-0C85A9EBFB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7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8078980-B2E0-BFC6-F12D-82E26DE668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" y="0"/>
            <a:ext cx="20269200" cy="1130935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E01984FE-3D4F-E67F-4FEE-B68273B5D17B}"/>
              </a:ext>
            </a:extLst>
          </p:cNvPr>
          <p:cNvSpPr/>
          <p:nvPr userDrawn="1"/>
        </p:nvSpPr>
        <p:spPr>
          <a:xfrm>
            <a:off x="528618" y="1710786"/>
            <a:ext cx="11817985" cy="9072245"/>
          </a:xfrm>
          <a:custGeom>
            <a:avLst/>
            <a:gdLst/>
            <a:ahLst/>
            <a:cxnLst/>
            <a:rect l="l" t="t" r="r" b="b"/>
            <a:pathLst>
              <a:path w="11817985" h="9072245">
                <a:moveTo>
                  <a:pt x="11474394" y="0"/>
                </a:moveTo>
                <a:lnTo>
                  <a:pt x="343089" y="0"/>
                </a:lnTo>
                <a:lnTo>
                  <a:pt x="296534" y="3131"/>
                </a:lnTo>
                <a:lnTo>
                  <a:pt x="251882" y="12254"/>
                </a:lnTo>
                <a:lnTo>
                  <a:pt x="209544" y="26960"/>
                </a:lnTo>
                <a:lnTo>
                  <a:pt x="169926" y="46839"/>
                </a:lnTo>
                <a:lnTo>
                  <a:pt x="133438" y="71483"/>
                </a:lnTo>
                <a:lnTo>
                  <a:pt x="100489" y="100483"/>
                </a:lnTo>
                <a:lnTo>
                  <a:pt x="71487" y="133431"/>
                </a:lnTo>
                <a:lnTo>
                  <a:pt x="46842" y="169918"/>
                </a:lnTo>
                <a:lnTo>
                  <a:pt x="26961" y="209535"/>
                </a:lnTo>
                <a:lnTo>
                  <a:pt x="12255" y="251873"/>
                </a:lnTo>
                <a:lnTo>
                  <a:pt x="3132" y="296523"/>
                </a:lnTo>
                <a:lnTo>
                  <a:pt x="0" y="343078"/>
                </a:lnTo>
                <a:lnTo>
                  <a:pt x="0" y="8728969"/>
                </a:lnTo>
                <a:lnTo>
                  <a:pt x="3132" y="8775522"/>
                </a:lnTo>
                <a:lnTo>
                  <a:pt x="12255" y="8820171"/>
                </a:lnTo>
                <a:lnTo>
                  <a:pt x="26961" y="8862508"/>
                </a:lnTo>
                <a:lnTo>
                  <a:pt x="46842" y="8902125"/>
                </a:lnTo>
                <a:lnTo>
                  <a:pt x="71487" y="8938612"/>
                </a:lnTo>
                <a:lnTo>
                  <a:pt x="100489" y="8971560"/>
                </a:lnTo>
                <a:lnTo>
                  <a:pt x="133438" y="9000561"/>
                </a:lnTo>
                <a:lnTo>
                  <a:pt x="169926" y="9025206"/>
                </a:lnTo>
                <a:lnTo>
                  <a:pt x="209544" y="9045086"/>
                </a:lnTo>
                <a:lnTo>
                  <a:pt x="251882" y="9059792"/>
                </a:lnTo>
                <a:lnTo>
                  <a:pt x="296534" y="9068916"/>
                </a:lnTo>
                <a:lnTo>
                  <a:pt x="343089" y="9072048"/>
                </a:lnTo>
                <a:lnTo>
                  <a:pt x="11474394" y="9072048"/>
                </a:lnTo>
                <a:lnTo>
                  <a:pt x="11520948" y="9068916"/>
                </a:lnTo>
                <a:lnTo>
                  <a:pt x="11565599" y="9059792"/>
                </a:lnTo>
                <a:lnTo>
                  <a:pt x="11607937" y="9045086"/>
                </a:lnTo>
                <a:lnTo>
                  <a:pt x="11647554" y="9025206"/>
                </a:lnTo>
                <a:lnTo>
                  <a:pt x="11684040" y="9000561"/>
                </a:lnTo>
                <a:lnTo>
                  <a:pt x="11716988" y="8971560"/>
                </a:lnTo>
                <a:lnTo>
                  <a:pt x="11745989" y="8938612"/>
                </a:lnTo>
                <a:lnTo>
                  <a:pt x="11770633" y="8902125"/>
                </a:lnTo>
                <a:lnTo>
                  <a:pt x="11790512" y="8862508"/>
                </a:lnTo>
                <a:lnTo>
                  <a:pt x="11805217" y="8820171"/>
                </a:lnTo>
                <a:lnTo>
                  <a:pt x="11814340" y="8775522"/>
                </a:lnTo>
                <a:lnTo>
                  <a:pt x="11817472" y="8728969"/>
                </a:lnTo>
                <a:lnTo>
                  <a:pt x="11817472" y="343078"/>
                </a:lnTo>
                <a:lnTo>
                  <a:pt x="11814340" y="296523"/>
                </a:lnTo>
                <a:lnTo>
                  <a:pt x="11805217" y="251873"/>
                </a:lnTo>
                <a:lnTo>
                  <a:pt x="11790512" y="209535"/>
                </a:lnTo>
                <a:lnTo>
                  <a:pt x="11770633" y="169918"/>
                </a:lnTo>
                <a:lnTo>
                  <a:pt x="11745989" y="133431"/>
                </a:lnTo>
                <a:lnTo>
                  <a:pt x="11716988" y="100483"/>
                </a:lnTo>
                <a:lnTo>
                  <a:pt x="11684040" y="71483"/>
                </a:lnTo>
                <a:lnTo>
                  <a:pt x="11647554" y="46839"/>
                </a:lnTo>
                <a:lnTo>
                  <a:pt x="11607937" y="26960"/>
                </a:lnTo>
                <a:lnTo>
                  <a:pt x="11565599" y="12254"/>
                </a:lnTo>
                <a:lnTo>
                  <a:pt x="11520948" y="3131"/>
                </a:lnTo>
                <a:lnTo>
                  <a:pt x="114743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ADA92D-79E0-75FB-4C48-9FC5CBAA04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4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8078980-B2E0-BFC6-F12D-82E26DE668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" y="0"/>
            <a:ext cx="20269200" cy="113093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491E232-45DC-A874-9BB0-BA012F8F01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4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8078980-B2E0-BFC6-F12D-82E26DE668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" y="0"/>
            <a:ext cx="20269200" cy="1130935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C35D062-3FB9-1D78-D6B8-C84B784F8EB3}"/>
              </a:ext>
            </a:extLst>
          </p:cNvPr>
          <p:cNvSpPr/>
          <p:nvPr userDrawn="1"/>
        </p:nvSpPr>
        <p:spPr>
          <a:xfrm>
            <a:off x="528618" y="1710786"/>
            <a:ext cx="11817985" cy="9072245"/>
          </a:xfrm>
          <a:custGeom>
            <a:avLst/>
            <a:gdLst/>
            <a:ahLst/>
            <a:cxnLst/>
            <a:rect l="l" t="t" r="r" b="b"/>
            <a:pathLst>
              <a:path w="11817985" h="9072245">
                <a:moveTo>
                  <a:pt x="11474394" y="0"/>
                </a:moveTo>
                <a:lnTo>
                  <a:pt x="343089" y="0"/>
                </a:lnTo>
                <a:lnTo>
                  <a:pt x="296534" y="3131"/>
                </a:lnTo>
                <a:lnTo>
                  <a:pt x="251882" y="12254"/>
                </a:lnTo>
                <a:lnTo>
                  <a:pt x="209544" y="26960"/>
                </a:lnTo>
                <a:lnTo>
                  <a:pt x="169926" y="46839"/>
                </a:lnTo>
                <a:lnTo>
                  <a:pt x="133438" y="71483"/>
                </a:lnTo>
                <a:lnTo>
                  <a:pt x="100489" y="100483"/>
                </a:lnTo>
                <a:lnTo>
                  <a:pt x="71487" y="133431"/>
                </a:lnTo>
                <a:lnTo>
                  <a:pt x="46842" y="169918"/>
                </a:lnTo>
                <a:lnTo>
                  <a:pt x="26961" y="209535"/>
                </a:lnTo>
                <a:lnTo>
                  <a:pt x="12255" y="251873"/>
                </a:lnTo>
                <a:lnTo>
                  <a:pt x="3132" y="296523"/>
                </a:lnTo>
                <a:lnTo>
                  <a:pt x="0" y="343078"/>
                </a:lnTo>
                <a:lnTo>
                  <a:pt x="0" y="8728969"/>
                </a:lnTo>
                <a:lnTo>
                  <a:pt x="3132" y="8775522"/>
                </a:lnTo>
                <a:lnTo>
                  <a:pt x="12255" y="8820171"/>
                </a:lnTo>
                <a:lnTo>
                  <a:pt x="26961" y="8862508"/>
                </a:lnTo>
                <a:lnTo>
                  <a:pt x="46842" y="8902125"/>
                </a:lnTo>
                <a:lnTo>
                  <a:pt x="71487" y="8938612"/>
                </a:lnTo>
                <a:lnTo>
                  <a:pt x="100489" y="8971560"/>
                </a:lnTo>
                <a:lnTo>
                  <a:pt x="133438" y="9000561"/>
                </a:lnTo>
                <a:lnTo>
                  <a:pt x="169926" y="9025206"/>
                </a:lnTo>
                <a:lnTo>
                  <a:pt x="209544" y="9045086"/>
                </a:lnTo>
                <a:lnTo>
                  <a:pt x="251882" y="9059792"/>
                </a:lnTo>
                <a:lnTo>
                  <a:pt x="296534" y="9068916"/>
                </a:lnTo>
                <a:lnTo>
                  <a:pt x="343089" y="9072048"/>
                </a:lnTo>
                <a:lnTo>
                  <a:pt x="11474394" y="9072048"/>
                </a:lnTo>
                <a:lnTo>
                  <a:pt x="11520948" y="9068916"/>
                </a:lnTo>
                <a:lnTo>
                  <a:pt x="11565599" y="9059792"/>
                </a:lnTo>
                <a:lnTo>
                  <a:pt x="11607937" y="9045086"/>
                </a:lnTo>
                <a:lnTo>
                  <a:pt x="11647554" y="9025206"/>
                </a:lnTo>
                <a:lnTo>
                  <a:pt x="11684040" y="9000561"/>
                </a:lnTo>
                <a:lnTo>
                  <a:pt x="11716988" y="8971560"/>
                </a:lnTo>
                <a:lnTo>
                  <a:pt x="11745989" y="8938612"/>
                </a:lnTo>
                <a:lnTo>
                  <a:pt x="11770633" y="8902125"/>
                </a:lnTo>
                <a:lnTo>
                  <a:pt x="11790512" y="8862508"/>
                </a:lnTo>
                <a:lnTo>
                  <a:pt x="11805217" y="8820171"/>
                </a:lnTo>
                <a:lnTo>
                  <a:pt x="11814340" y="8775522"/>
                </a:lnTo>
                <a:lnTo>
                  <a:pt x="11817472" y="8728969"/>
                </a:lnTo>
                <a:lnTo>
                  <a:pt x="11817472" y="343078"/>
                </a:lnTo>
                <a:lnTo>
                  <a:pt x="11814340" y="296523"/>
                </a:lnTo>
                <a:lnTo>
                  <a:pt x="11805217" y="251873"/>
                </a:lnTo>
                <a:lnTo>
                  <a:pt x="11790512" y="209535"/>
                </a:lnTo>
                <a:lnTo>
                  <a:pt x="11770633" y="169918"/>
                </a:lnTo>
                <a:lnTo>
                  <a:pt x="11745989" y="133431"/>
                </a:lnTo>
                <a:lnTo>
                  <a:pt x="11716988" y="100483"/>
                </a:lnTo>
                <a:lnTo>
                  <a:pt x="11684040" y="71483"/>
                </a:lnTo>
                <a:lnTo>
                  <a:pt x="11647554" y="46839"/>
                </a:lnTo>
                <a:lnTo>
                  <a:pt x="11607937" y="26960"/>
                </a:lnTo>
                <a:lnTo>
                  <a:pt x="11565599" y="12254"/>
                </a:lnTo>
                <a:lnTo>
                  <a:pt x="11520948" y="3131"/>
                </a:lnTo>
                <a:lnTo>
                  <a:pt x="114743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31CAA6-26BF-1BBA-2A6D-4A33869449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1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28620" y="1710786"/>
            <a:ext cx="19047460" cy="9072245"/>
          </a:xfrm>
          <a:custGeom>
            <a:avLst/>
            <a:gdLst/>
            <a:ahLst/>
            <a:cxnLst/>
            <a:rect l="l" t="t" r="r" b="b"/>
            <a:pathLst>
              <a:path w="19047460" h="9072245">
                <a:moveTo>
                  <a:pt x="18703776" y="0"/>
                </a:moveTo>
                <a:lnTo>
                  <a:pt x="343078" y="0"/>
                </a:lnTo>
                <a:lnTo>
                  <a:pt x="296526" y="3131"/>
                </a:lnTo>
                <a:lnTo>
                  <a:pt x="251876" y="12254"/>
                </a:lnTo>
                <a:lnTo>
                  <a:pt x="209539" y="26960"/>
                </a:lnTo>
                <a:lnTo>
                  <a:pt x="169923" y="46839"/>
                </a:lnTo>
                <a:lnTo>
                  <a:pt x="133436" y="71483"/>
                </a:lnTo>
                <a:lnTo>
                  <a:pt x="100487" y="100483"/>
                </a:lnTo>
                <a:lnTo>
                  <a:pt x="71486" y="133431"/>
                </a:lnTo>
                <a:lnTo>
                  <a:pt x="46841" y="169918"/>
                </a:lnTo>
                <a:lnTo>
                  <a:pt x="26961" y="209535"/>
                </a:lnTo>
                <a:lnTo>
                  <a:pt x="12255" y="251873"/>
                </a:lnTo>
                <a:lnTo>
                  <a:pt x="3132" y="296523"/>
                </a:lnTo>
                <a:lnTo>
                  <a:pt x="0" y="343078"/>
                </a:lnTo>
                <a:lnTo>
                  <a:pt x="0" y="8728969"/>
                </a:lnTo>
                <a:lnTo>
                  <a:pt x="3132" y="8775522"/>
                </a:lnTo>
                <a:lnTo>
                  <a:pt x="12255" y="8820171"/>
                </a:lnTo>
                <a:lnTo>
                  <a:pt x="26961" y="8862508"/>
                </a:lnTo>
                <a:lnTo>
                  <a:pt x="46841" y="8902125"/>
                </a:lnTo>
                <a:lnTo>
                  <a:pt x="71486" y="8938612"/>
                </a:lnTo>
                <a:lnTo>
                  <a:pt x="100487" y="8971560"/>
                </a:lnTo>
                <a:lnTo>
                  <a:pt x="133436" y="9000561"/>
                </a:lnTo>
                <a:lnTo>
                  <a:pt x="169923" y="9025206"/>
                </a:lnTo>
                <a:lnTo>
                  <a:pt x="209539" y="9045086"/>
                </a:lnTo>
                <a:lnTo>
                  <a:pt x="251876" y="9059792"/>
                </a:lnTo>
                <a:lnTo>
                  <a:pt x="296526" y="9068916"/>
                </a:lnTo>
                <a:lnTo>
                  <a:pt x="343078" y="9072048"/>
                </a:lnTo>
                <a:lnTo>
                  <a:pt x="18703776" y="9072048"/>
                </a:lnTo>
                <a:lnTo>
                  <a:pt x="18750330" y="9068916"/>
                </a:lnTo>
                <a:lnTo>
                  <a:pt x="18794981" y="9059792"/>
                </a:lnTo>
                <a:lnTo>
                  <a:pt x="18837319" y="9045086"/>
                </a:lnTo>
                <a:lnTo>
                  <a:pt x="18876936" y="9025206"/>
                </a:lnTo>
                <a:lnTo>
                  <a:pt x="18913422" y="9000561"/>
                </a:lnTo>
                <a:lnTo>
                  <a:pt x="18946370" y="8971560"/>
                </a:lnTo>
                <a:lnTo>
                  <a:pt x="18975371" y="8938612"/>
                </a:lnTo>
                <a:lnTo>
                  <a:pt x="19000015" y="8902125"/>
                </a:lnTo>
                <a:lnTo>
                  <a:pt x="19019894" y="8862508"/>
                </a:lnTo>
                <a:lnTo>
                  <a:pt x="19034599" y="8820171"/>
                </a:lnTo>
                <a:lnTo>
                  <a:pt x="19043722" y="8775522"/>
                </a:lnTo>
                <a:lnTo>
                  <a:pt x="19046854" y="8728969"/>
                </a:lnTo>
                <a:lnTo>
                  <a:pt x="19046854" y="343078"/>
                </a:lnTo>
                <a:lnTo>
                  <a:pt x="19043722" y="296523"/>
                </a:lnTo>
                <a:lnTo>
                  <a:pt x="19034599" y="251873"/>
                </a:lnTo>
                <a:lnTo>
                  <a:pt x="19019894" y="209535"/>
                </a:lnTo>
                <a:lnTo>
                  <a:pt x="19000015" y="169918"/>
                </a:lnTo>
                <a:lnTo>
                  <a:pt x="18975371" y="133431"/>
                </a:lnTo>
                <a:lnTo>
                  <a:pt x="18946370" y="100483"/>
                </a:lnTo>
                <a:lnTo>
                  <a:pt x="18913422" y="71483"/>
                </a:lnTo>
                <a:lnTo>
                  <a:pt x="18876936" y="46839"/>
                </a:lnTo>
                <a:lnTo>
                  <a:pt x="18837319" y="26960"/>
                </a:lnTo>
                <a:lnTo>
                  <a:pt x="18794981" y="12254"/>
                </a:lnTo>
                <a:lnTo>
                  <a:pt x="18750330" y="3131"/>
                </a:lnTo>
                <a:lnTo>
                  <a:pt x="1870377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9AFF4F-1666-6FCB-BF63-8933691726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5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C3A2FCE-9E93-4A5C-5541-2EE326C74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019" y="1710786"/>
            <a:ext cx="19055905" cy="9079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EEA03A9-CCAD-DB99-9704-C8D6D39EEE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F3DF38-0B75-2D29-E45D-FC1CFAEC3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0E1A9F0-535E-88FE-FD12-6CFDBA2480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8016" y="1710786"/>
            <a:ext cx="19071465" cy="907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6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F3DF38-0B75-2D29-E45D-FC1CFAEC3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FF277C8-8F7B-FECC-FAE1-4742064F9A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7065" y="1710786"/>
            <a:ext cx="19071465" cy="907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8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E49376-72F1-FCC7-7AB0-BC37C167EA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018" y="1710786"/>
            <a:ext cx="19071465" cy="90796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16D24D1-11AE-6484-5BA9-B2BAEB6E8D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5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C66FC48-4562-42F1-7E45-9DD2E026FD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017" y="1710786"/>
            <a:ext cx="19071465" cy="907965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1B13924-5B94-8C86-A350-343891A7C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75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794F00B-0395-7038-CBC5-96775BC722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016" y="1710088"/>
            <a:ext cx="19047459" cy="906822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5DFD1A4-A866-CD54-693D-48331EC88E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88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C3EC949-7EBE-3906-9091-979405038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566" y="1710778"/>
            <a:ext cx="19085249" cy="908621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700D285-C990-E6A2-EF51-F80235EE4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73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E62CBCF-B1AA-7FCD-A067-BC8D98A3F9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293" y="1710778"/>
            <a:ext cx="19056516" cy="907253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3FC14DC-2FB7-029A-C1F8-85A309963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74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993BA3-7E62-6830-C666-587D7EDB9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293" y="1710778"/>
            <a:ext cx="19056516" cy="907253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1141120-6718-CDB1-9DA9-67E98334F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058" y="551756"/>
            <a:ext cx="2102485" cy="6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17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E16898-B18B-0579-3F18-4E3DD0C41F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397"/>
            <a:ext cx="20104096" cy="1130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5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4" r:id="rId2"/>
    <p:sldLayoutId id="2147483663" r:id="rId3"/>
    <p:sldLayoutId id="2147483667" r:id="rId4"/>
    <p:sldLayoutId id="2147483668" r:id="rId5"/>
    <p:sldLayoutId id="2147483664" r:id="rId6"/>
    <p:sldLayoutId id="2147483661" r:id="rId7"/>
    <p:sldLayoutId id="2147483665" r:id="rId8"/>
    <p:sldLayoutId id="2147483677" r:id="rId9"/>
    <p:sldLayoutId id="2147483672" r:id="rId10"/>
    <p:sldLayoutId id="2147483666" r:id="rId11"/>
    <p:sldLayoutId id="2147483669" r:id="rId12"/>
    <p:sldLayoutId id="2147483670" r:id="rId13"/>
    <p:sldLayoutId id="2147483671" r:id="rId14"/>
    <p:sldLayoutId id="2147483673" r:id="rId15"/>
    <p:sldLayoutId id="2147483676" r:id="rId1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">
            <a:extLst>
              <a:ext uri="{FF2B5EF4-FFF2-40B4-BE49-F238E27FC236}">
                <a16:creationId xmlns:a16="http://schemas.microsoft.com/office/drawing/2014/main" id="{977A96BA-DBA8-A6CE-249B-7AD3DC600ACD}"/>
              </a:ext>
            </a:extLst>
          </p:cNvPr>
          <p:cNvSpPr txBox="1"/>
          <p:nvPr/>
        </p:nvSpPr>
        <p:spPr>
          <a:xfrm>
            <a:off x="4663017" y="3292475"/>
            <a:ext cx="1077806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O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Extracción, transformación y carga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724F01B8-E6D9-8A70-9DEC-9CCC9CC321E7}"/>
              </a:ext>
            </a:extLst>
          </p:cNvPr>
          <p:cNvSpPr txBox="1"/>
          <p:nvPr/>
        </p:nvSpPr>
        <p:spPr>
          <a:xfrm>
            <a:off x="5005917" y="5502275"/>
            <a:ext cx="100922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O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O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niel Felipe Romero Bernal</a:t>
            </a:r>
          </a:p>
          <a:p>
            <a:pPr algn="ctr"/>
            <a:r>
              <a:rPr lang="en-CO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Msc. Ciencia de Datos</a:t>
            </a:r>
          </a:p>
        </p:txBody>
      </p:sp>
    </p:spTree>
    <p:extLst>
      <p:ext uri="{BB962C8B-B14F-4D97-AF65-F5344CB8AC3E}">
        <p14:creationId xmlns:p14="http://schemas.microsoft.com/office/powerpoint/2010/main" val="929795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D1AFC58E-D834-F932-ACA4-429BBA161048}"/>
              </a:ext>
            </a:extLst>
          </p:cNvPr>
          <p:cNvSpPr txBox="1"/>
          <p:nvPr/>
        </p:nvSpPr>
        <p:spPr>
          <a:xfrm>
            <a:off x="2853326" y="4469597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solidFill>
                  <a:schemeClr val="bg1"/>
                </a:solidFill>
                <a:latin typeface="Arial"/>
                <a:cs typeface="Arial"/>
              </a:rPr>
              <a:t>01</a:t>
            </a:r>
            <a:endParaRPr sz="345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824F24EC-23B2-C64E-515D-3BFB242BC9DC}"/>
              </a:ext>
            </a:extLst>
          </p:cNvPr>
          <p:cNvSpPr/>
          <p:nvPr/>
        </p:nvSpPr>
        <p:spPr>
          <a:xfrm>
            <a:off x="7995133" y="5744765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22C431C-3A71-CC49-C7CD-CEF114A3F151}"/>
              </a:ext>
            </a:extLst>
          </p:cNvPr>
          <p:cNvSpPr txBox="1">
            <a:spLocks/>
          </p:cNvSpPr>
          <p:nvPr/>
        </p:nvSpPr>
        <p:spPr>
          <a:xfrm>
            <a:off x="8343994" y="5654675"/>
            <a:ext cx="7423049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chemeClr val="bg1"/>
                </a:solidFill>
                <a:latin typeface="Arial"/>
                <a:cs typeface="Arial"/>
              </a:rPr>
              <a:t>Presentación</a:t>
            </a:r>
            <a:endParaRPr lang="es-CO" sz="49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39B27426-7BE8-0157-A159-FC4B5C33AEC7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4104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Docente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C7362E0-2DF9-8CF5-76FF-0073C27BC75F}"/>
              </a:ext>
            </a:extLst>
          </p:cNvPr>
          <p:cNvSpPr txBox="1"/>
          <p:nvPr/>
        </p:nvSpPr>
        <p:spPr>
          <a:xfrm>
            <a:off x="1013124" y="3708020"/>
            <a:ext cx="9343726" cy="53843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3600" b="1" dirty="0">
                <a:solidFill>
                  <a:schemeClr val="tx1"/>
                </a:solidFill>
                <a:latin typeface="Arial"/>
                <a:cs typeface="Arial"/>
              </a:rPr>
              <a:t>Investigador social cuantitativo - científico de datos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endParaRPr lang="es-419" sz="32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3200" b="1" dirty="0">
                <a:solidFill>
                  <a:schemeClr val="tx1"/>
                </a:solidFill>
                <a:latin typeface="Arial"/>
                <a:cs typeface="Arial"/>
              </a:rPr>
              <a:t>Coordinador Técnico de SI (SBS)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3200" b="1" dirty="0">
                <a:solidFill>
                  <a:schemeClr val="tx1"/>
                </a:solidFill>
                <a:latin typeface="Arial"/>
                <a:cs typeface="Arial"/>
              </a:rPr>
              <a:t>Docente universitario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endParaRPr lang="es-419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2800" dirty="0">
                <a:solidFill>
                  <a:schemeClr val="tx1"/>
                </a:solidFill>
                <a:latin typeface="Arial"/>
                <a:cs typeface="Arial"/>
              </a:rPr>
              <a:t>MSc. Ciencia de datos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2800" dirty="0">
                <a:solidFill>
                  <a:schemeClr val="tx1"/>
                </a:solidFill>
                <a:latin typeface="Arial"/>
                <a:cs typeface="Arial"/>
              </a:rPr>
              <a:t>MSc. Ciencias farmaceuticas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2800" dirty="0">
                <a:solidFill>
                  <a:schemeClr val="tx1"/>
                </a:solidFill>
                <a:latin typeface="Arial"/>
                <a:cs typeface="Arial"/>
              </a:rPr>
              <a:t>Spc. Gestión integral de proyectos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2800" dirty="0">
                <a:solidFill>
                  <a:schemeClr val="tx1"/>
                </a:solidFill>
                <a:latin typeface="Arial"/>
                <a:cs typeface="Arial"/>
              </a:rPr>
              <a:t>Ing. Biomédico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2800" dirty="0">
                <a:solidFill>
                  <a:schemeClr val="tx1"/>
                </a:solidFill>
                <a:latin typeface="Arial"/>
                <a:cs typeface="Arial"/>
              </a:rPr>
              <a:t>Sociológo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E48FBB0-9454-3380-7BA0-C420306D101B}"/>
              </a:ext>
            </a:extLst>
          </p:cNvPr>
          <p:cNvSpPr txBox="1"/>
          <p:nvPr/>
        </p:nvSpPr>
        <p:spPr>
          <a:xfrm>
            <a:off x="11089812" y="7566788"/>
            <a:ext cx="7871665" cy="20086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3200" spc="5" dirty="0">
                <a:solidFill>
                  <a:schemeClr val="tx1"/>
                </a:solidFill>
                <a:latin typeface="Arial"/>
                <a:cs typeface="Arial"/>
              </a:rPr>
              <a:t>Daniel Felipe Romero Bernal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endParaRPr lang="es-419" sz="3200" spc="5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es-419" sz="3200" spc="5" dirty="0">
                <a:solidFill>
                  <a:schemeClr val="tx1"/>
                </a:solidFill>
                <a:latin typeface="Arial"/>
                <a:cs typeface="Arial"/>
              </a:rPr>
              <a:t>dfromero@uao.edu.co</a:t>
            </a:r>
            <a:endParaRPr lang="es-ES" sz="3200" spc="5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endParaRPr sz="32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56EE85F-3B41-CC2C-92CB-3AF8930483E8}"/>
              </a:ext>
            </a:extLst>
          </p:cNvPr>
          <p:cNvSpPr/>
          <p:nvPr/>
        </p:nvSpPr>
        <p:spPr>
          <a:xfrm flipH="1">
            <a:off x="10356849" y="2095246"/>
            <a:ext cx="152399" cy="7973872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2" descr="profile image">
            <a:extLst>
              <a:ext uri="{FF2B5EF4-FFF2-40B4-BE49-F238E27FC236}">
                <a16:creationId xmlns:a16="http://schemas.microsoft.com/office/drawing/2014/main" id="{A91D82FA-9C50-225F-F675-7A4673E28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9" b="10509"/>
          <a:stretch>
            <a:fillRect/>
          </a:stretch>
        </p:blipFill>
        <p:spPr bwMode="auto">
          <a:xfrm>
            <a:off x="11499850" y="2098595"/>
            <a:ext cx="6528446" cy="515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71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3F780BAB-AA64-AFD2-01E9-C0D2135514AE}"/>
              </a:ext>
            </a:extLst>
          </p:cNvPr>
          <p:cNvSpPr txBox="1"/>
          <p:nvPr/>
        </p:nvSpPr>
        <p:spPr>
          <a:xfrm>
            <a:off x="15767691" y="8235977"/>
            <a:ext cx="1981200" cy="29483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3985">
              <a:lnSpc>
                <a:spcPts val="2220"/>
              </a:lnSpc>
            </a:pPr>
            <a:r>
              <a:rPr lang="es-419" sz="2200" dirty="0">
                <a:solidFill>
                  <a:srgbClr val="C00000"/>
                </a:solidFill>
                <a:latin typeface="Arial"/>
                <a:cs typeface="Arial"/>
              </a:rPr>
              <a:t>Matriculados</a:t>
            </a:r>
            <a:endParaRPr sz="22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081F59B-81C4-4960-0622-C5B50D895D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7023100"/>
            <a:ext cx="4556967" cy="3417725"/>
          </a:xfrm>
          <a:prstGeom prst="roundRect">
            <a:avLst>
              <a:gd name="adj" fmla="val 6990"/>
            </a:avLst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6616BBC-388A-6872-34E2-261C53CAC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3692" y="7023100"/>
            <a:ext cx="4556966" cy="3417724"/>
          </a:xfrm>
          <a:prstGeom prst="roundRect">
            <a:avLst>
              <a:gd name="adj" fmla="val 4144"/>
            </a:avLst>
          </a:prstGeom>
        </p:spPr>
      </p:pic>
      <p:sp>
        <p:nvSpPr>
          <p:cNvPr id="13" name="object 5">
            <a:extLst>
              <a:ext uri="{FF2B5EF4-FFF2-40B4-BE49-F238E27FC236}">
                <a16:creationId xmlns:a16="http://schemas.microsoft.com/office/drawing/2014/main" id="{45106834-5783-8D05-9AEF-B53C27071753}"/>
              </a:ext>
            </a:extLst>
          </p:cNvPr>
          <p:cNvSpPr txBox="1">
            <a:spLocks/>
          </p:cNvSpPr>
          <p:nvPr/>
        </p:nvSpPr>
        <p:spPr>
          <a:xfrm>
            <a:off x="994846" y="2114930"/>
            <a:ext cx="11343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Sobre los estudiantes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486247C6-E16C-D7CB-3E56-37832C63A0F7}"/>
              </a:ext>
            </a:extLst>
          </p:cNvPr>
          <p:cNvSpPr txBox="1"/>
          <p:nvPr/>
        </p:nvSpPr>
        <p:spPr>
          <a:xfrm>
            <a:off x="1013124" y="3216275"/>
            <a:ext cx="17954326" cy="30290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Presentemonos, e intentemos responder a lo siguiente: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endParaRPr lang="es-419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7050" marR="5080" indent="-5143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¿Qué sé de ETL? ¿He trabajado formalmente?</a:t>
            </a:r>
          </a:p>
          <a:p>
            <a:pPr marL="527050" marR="5080" indent="-5143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¿De dónde soy? ¿Estaré virtual, presencial o híbrido?</a:t>
            </a:r>
          </a:p>
          <a:p>
            <a:pPr marL="527050" marR="5080" indent="-5143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¿Cómo es mi dominio del inglés?</a:t>
            </a:r>
          </a:p>
          <a:p>
            <a:pPr marL="527050" marR="5080" indent="-5143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¿Hasta ahora cómo ha sido mi recorrido en el programa académico?</a:t>
            </a:r>
            <a:endParaRPr sz="3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1231F295-117F-3356-8D39-011C0BCF8927}"/>
              </a:ext>
            </a:extLst>
          </p:cNvPr>
          <p:cNvSpPr txBox="1"/>
          <p:nvPr/>
        </p:nvSpPr>
        <p:spPr>
          <a:xfrm>
            <a:off x="12490450" y="6838741"/>
            <a:ext cx="5598524" cy="30893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20000" spc="-25" dirty="0">
                <a:solidFill>
                  <a:srgbClr val="C00000"/>
                </a:solidFill>
                <a:latin typeface="Arial"/>
                <a:cs typeface="Arial"/>
              </a:rPr>
              <a:t>19</a:t>
            </a:r>
            <a:endParaRPr sz="200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6EBAD75-B315-5FED-FB49-5515676753A3}"/>
              </a:ext>
            </a:extLst>
          </p:cNvPr>
          <p:cNvSpPr/>
          <p:nvPr/>
        </p:nvSpPr>
        <p:spPr>
          <a:xfrm rot="5400000">
            <a:off x="9957127" y="-2350886"/>
            <a:ext cx="66320" cy="17954328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018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397A98D3-AD12-490B-23DC-6E746D304E4A}"/>
              </a:ext>
            </a:extLst>
          </p:cNvPr>
          <p:cNvSpPr txBox="1"/>
          <p:nvPr/>
        </p:nvSpPr>
        <p:spPr>
          <a:xfrm>
            <a:off x="2853326" y="4469597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solidFill>
                  <a:schemeClr val="bg1"/>
                </a:solidFill>
                <a:latin typeface="Arial"/>
                <a:cs typeface="Arial"/>
              </a:rPr>
              <a:t>02</a:t>
            </a:r>
            <a:endParaRPr sz="345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393D7A3-AEB8-E45E-C227-E7DB89E3E505}"/>
              </a:ext>
            </a:extLst>
          </p:cNvPr>
          <p:cNvSpPr/>
          <p:nvPr/>
        </p:nvSpPr>
        <p:spPr>
          <a:xfrm>
            <a:off x="7995133" y="5744765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70247AF-E41B-E99F-0882-82595A2BE422}"/>
              </a:ext>
            </a:extLst>
          </p:cNvPr>
          <p:cNvSpPr txBox="1">
            <a:spLocks/>
          </p:cNvSpPr>
          <p:nvPr/>
        </p:nvSpPr>
        <p:spPr>
          <a:xfrm>
            <a:off x="8343994" y="5654675"/>
            <a:ext cx="6965843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chemeClr val="bg1"/>
                </a:solidFill>
                <a:latin typeface="Arial"/>
                <a:cs typeface="Arial"/>
              </a:rPr>
              <a:t>Presentación del curso</a:t>
            </a:r>
            <a:endParaRPr lang="es-CO" sz="49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5995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43CF-B5E7-DB7C-CDA0-3EBEB073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00338B5-285A-29B5-8BA9-CCFE0900E8A6}"/>
              </a:ext>
            </a:extLst>
          </p:cNvPr>
          <p:cNvGrpSpPr/>
          <p:nvPr/>
        </p:nvGrpSpPr>
        <p:grpSpPr>
          <a:xfrm>
            <a:off x="766852" y="5502272"/>
            <a:ext cx="18494273" cy="2348716"/>
            <a:chOff x="766852" y="5502272"/>
            <a:chExt cx="18494273" cy="234871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0F6A100-3B44-77F5-07C0-A27B246A2084}"/>
                </a:ext>
              </a:extLst>
            </p:cNvPr>
            <p:cNvSpPr/>
            <p:nvPr/>
          </p:nvSpPr>
          <p:spPr>
            <a:xfrm>
              <a:off x="766852" y="5502272"/>
              <a:ext cx="18494273" cy="23487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A8BA94E-5929-6FA9-2446-C441C7574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852" y="5583599"/>
              <a:ext cx="7084288" cy="226738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1E06D3C-4015-251E-2066-9045A27D2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2250" y="5502272"/>
              <a:ext cx="11418875" cy="2348716"/>
            </a:xfrm>
            <a:prstGeom prst="rect">
              <a:avLst/>
            </a:prstGeom>
          </p:spPr>
        </p:pic>
      </p:grpSp>
      <p:sp>
        <p:nvSpPr>
          <p:cNvPr id="2" name="object 5">
            <a:extLst>
              <a:ext uri="{FF2B5EF4-FFF2-40B4-BE49-F238E27FC236}">
                <a16:creationId xmlns:a16="http://schemas.microsoft.com/office/drawing/2014/main" id="{5A6EBDCA-EC6C-F5BD-D823-63B11D98153A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12943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419" sz="4950" b="1" spc="-10" dirty="0">
                <a:solidFill>
                  <a:srgbClr val="C00000"/>
                </a:solidFill>
                <a:latin typeface="Arial"/>
                <a:cs typeface="Arial"/>
              </a:rPr>
              <a:t>Sobre el curso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9E5DD27-0816-52D7-FCC9-E73C4BEEBC3F}"/>
              </a:ext>
            </a:extLst>
          </p:cNvPr>
          <p:cNvSpPr txBox="1"/>
          <p:nvPr/>
        </p:nvSpPr>
        <p:spPr>
          <a:xfrm>
            <a:off x="1013124" y="3708020"/>
            <a:ext cx="18030526" cy="8676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ES" sz="2800" dirty="0">
                <a:solidFill>
                  <a:schemeClr val="tx1"/>
                </a:solidFill>
                <a:latin typeface="Arial"/>
                <a:cs typeface="Arial"/>
              </a:rPr>
              <a:t>Comenzamos día 27 de julio de 2026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ES" sz="2800" dirty="0">
                <a:solidFill>
                  <a:schemeClr val="tx1"/>
                </a:solidFill>
                <a:latin typeface="Arial"/>
                <a:cs typeface="Arial"/>
              </a:rPr>
              <a:t>Terminamos día 17 de noviembre de 2026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111A7D-2FF3-93A9-9B34-6E5600EFE29B}"/>
              </a:ext>
            </a:extLst>
          </p:cNvPr>
          <p:cNvSpPr txBox="1">
            <a:spLocks/>
          </p:cNvSpPr>
          <p:nvPr/>
        </p:nvSpPr>
        <p:spPr>
          <a:xfrm>
            <a:off x="4770587" y="8870950"/>
            <a:ext cx="10515600" cy="634119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O" sz="3600" dirty="0">
                <a:latin typeface="Aptos" panose="020B0004020202020204" pitchFamily="34" charset="0"/>
              </a:rPr>
              <a:t>Lunes: 18:30 – 21:30 | Martes: 18:30 – 21:30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315465-B5E0-4B44-C9EC-0E2C1A43644D}"/>
              </a:ext>
            </a:extLst>
          </p:cNvPr>
          <p:cNvSpPr/>
          <p:nvPr/>
        </p:nvSpPr>
        <p:spPr>
          <a:xfrm>
            <a:off x="1630280" y="7254875"/>
            <a:ext cx="685800" cy="22860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C5F10-BC8D-AA58-A527-876BA2F12B3F}"/>
              </a:ext>
            </a:extLst>
          </p:cNvPr>
          <p:cNvSpPr/>
          <p:nvPr/>
        </p:nvSpPr>
        <p:spPr>
          <a:xfrm>
            <a:off x="5430304" y="6489949"/>
            <a:ext cx="762000" cy="129832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5501CB-CFB3-D6A2-BE1D-CC885CF26339}"/>
              </a:ext>
            </a:extLst>
          </p:cNvPr>
          <p:cNvSpPr/>
          <p:nvPr/>
        </p:nvSpPr>
        <p:spPr>
          <a:xfrm>
            <a:off x="8798644" y="6300912"/>
            <a:ext cx="762000" cy="134277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068EF-41B9-ABB4-A1DA-407CC8031E53}"/>
              </a:ext>
            </a:extLst>
          </p:cNvPr>
          <p:cNvSpPr/>
          <p:nvPr/>
        </p:nvSpPr>
        <p:spPr>
          <a:xfrm>
            <a:off x="12763588" y="6558077"/>
            <a:ext cx="762000" cy="107383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DBC876-ACB5-0BA9-EA22-9C36CA99A808}"/>
              </a:ext>
            </a:extLst>
          </p:cNvPr>
          <p:cNvSpPr/>
          <p:nvPr/>
        </p:nvSpPr>
        <p:spPr>
          <a:xfrm>
            <a:off x="16693279" y="6300912"/>
            <a:ext cx="762000" cy="87776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pic>
        <p:nvPicPr>
          <p:cNvPr id="15" name="Graphic 14" descr="Acorn with solid fill">
            <a:extLst>
              <a:ext uri="{FF2B5EF4-FFF2-40B4-BE49-F238E27FC236}">
                <a16:creationId xmlns:a16="http://schemas.microsoft.com/office/drawing/2014/main" id="{049E60DF-17C2-DBA8-4356-284C1B43A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4559" y="7483475"/>
            <a:ext cx="323013" cy="323013"/>
          </a:xfrm>
          <a:prstGeom prst="rect">
            <a:avLst/>
          </a:prstGeom>
        </p:spPr>
      </p:pic>
      <p:pic>
        <p:nvPicPr>
          <p:cNvPr id="16" name="Graphic 15" descr="Acorn with solid fill">
            <a:extLst>
              <a:ext uri="{FF2B5EF4-FFF2-40B4-BE49-F238E27FC236}">
                <a16:creationId xmlns:a16="http://schemas.microsoft.com/office/drawing/2014/main" id="{02BE37E7-25AF-269C-E9CB-BE4AFEFE3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58564" y="6578286"/>
            <a:ext cx="323013" cy="323013"/>
          </a:xfrm>
          <a:prstGeom prst="rect">
            <a:avLst/>
          </a:prstGeom>
        </p:spPr>
      </p:pic>
      <p:pic>
        <p:nvPicPr>
          <p:cNvPr id="17" name="Graphic 16" descr="Acorn with solid fill">
            <a:extLst>
              <a:ext uri="{FF2B5EF4-FFF2-40B4-BE49-F238E27FC236}">
                <a16:creationId xmlns:a16="http://schemas.microsoft.com/office/drawing/2014/main" id="{5B975108-2C54-B756-C88E-18F875E5E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10370" y="6841330"/>
            <a:ext cx="323013" cy="323013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3675F7-7AB8-D2D8-2087-03669690C973}"/>
              </a:ext>
            </a:extLst>
          </p:cNvPr>
          <p:cNvSpPr/>
          <p:nvPr/>
        </p:nvSpPr>
        <p:spPr>
          <a:xfrm>
            <a:off x="5791816" y="7254875"/>
            <a:ext cx="381000" cy="262738"/>
          </a:xfrm>
          <a:prstGeom prst="roundRect">
            <a:avLst/>
          </a:prstGeom>
          <a:solidFill>
            <a:srgbClr val="C3D69B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2B63351-8226-5EA5-F56D-C9D0645A3874}"/>
              </a:ext>
            </a:extLst>
          </p:cNvPr>
          <p:cNvSpPr/>
          <p:nvPr/>
        </p:nvSpPr>
        <p:spPr>
          <a:xfrm>
            <a:off x="5405200" y="7512316"/>
            <a:ext cx="381000" cy="262738"/>
          </a:xfrm>
          <a:prstGeom prst="roundRect">
            <a:avLst/>
          </a:prstGeom>
          <a:solidFill>
            <a:srgbClr val="C3D69B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5227A0B-26D3-4E57-F50F-CB9BDB45BCA3}"/>
              </a:ext>
            </a:extLst>
          </p:cNvPr>
          <p:cNvSpPr/>
          <p:nvPr/>
        </p:nvSpPr>
        <p:spPr>
          <a:xfrm>
            <a:off x="12774580" y="6565991"/>
            <a:ext cx="381000" cy="262738"/>
          </a:xfrm>
          <a:prstGeom prst="roundRect">
            <a:avLst/>
          </a:prstGeom>
          <a:solidFill>
            <a:srgbClr val="C3D69B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01FB0AF-FF3D-C355-D7AC-5A73F0F1C306}"/>
              </a:ext>
            </a:extLst>
          </p:cNvPr>
          <p:cNvSpPr/>
          <p:nvPr/>
        </p:nvSpPr>
        <p:spPr>
          <a:xfrm>
            <a:off x="9170877" y="7380947"/>
            <a:ext cx="381000" cy="262738"/>
          </a:xfrm>
          <a:prstGeom prst="roundRect">
            <a:avLst/>
          </a:prstGeom>
          <a:solidFill>
            <a:srgbClr val="C3D69B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4BA548A-0B11-6521-3B09-9BAB8151B324}"/>
              </a:ext>
            </a:extLst>
          </p:cNvPr>
          <p:cNvSpPr/>
          <p:nvPr/>
        </p:nvSpPr>
        <p:spPr>
          <a:xfrm>
            <a:off x="17104715" y="6841330"/>
            <a:ext cx="381000" cy="262738"/>
          </a:xfrm>
          <a:prstGeom prst="roundRect">
            <a:avLst/>
          </a:prstGeom>
          <a:solidFill>
            <a:srgbClr val="C3D69B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371A1D7-9E8B-AC20-EEC6-0715369C6E33}"/>
              </a:ext>
            </a:extLst>
          </p:cNvPr>
          <p:cNvSpPr/>
          <p:nvPr/>
        </p:nvSpPr>
        <p:spPr>
          <a:xfrm>
            <a:off x="17067929" y="6577014"/>
            <a:ext cx="381000" cy="262738"/>
          </a:xfrm>
          <a:prstGeom prst="roundRect">
            <a:avLst/>
          </a:prstGeom>
          <a:solidFill>
            <a:srgbClr val="C3D69B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343479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52D7-04E4-1B3C-D5E6-84AEE178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FC41CAC-5C01-F095-5395-A46AB0F6C0F5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84476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Competencias a desarrollar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E0F448B-E4F8-E972-D02C-F1C5B4AAD36A}"/>
              </a:ext>
            </a:extLst>
          </p:cNvPr>
          <p:cNvSpPr txBox="1"/>
          <p:nvPr/>
        </p:nvSpPr>
        <p:spPr>
          <a:xfrm>
            <a:off x="1013124" y="3708020"/>
            <a:ext cx="18030526" cy="3918958"/>
          </a:xfrm>
          <a:prstGeom prst="rect">
            <a:avLst/>
          </a:prstGeom>
        </p:spPr>
        <p:txBody>
          <a:bodyPr vert="horz" wrap="square" lIns="0" tIns="11430" rIns="0" bIns="0" numCol="1" rtlCol="0">
            <a:spAutoFit/>
          </a:bodyPr>
          <a:lstStyle/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Define la infraestructura computacional apropiada para la implementación de aplicaciones que hacen uso intensivo de análisis de datos e inteligencia artificial, de acuerdo con las necesidades y características de la organización, así como factores globales, culturales, sociales, ambientales y económicos.</a:t>
            </a:r>
          </a:p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endParaRPr lang="es-419" sz="3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Gestiona de forma efectiva proyectos relacionados con el manejo y análisis de datos.</a:t>
            </a:r>
          </a:p>
        </p:txBody>
      </p:sp>
    </p:spTree>
    <p:extLst>
      <p:ext uri="{BB962C8B-B14F-4D97-AF65-F5344CB8AC3E}">
        <p14:creationId xmlns:p14="http://schemas.microsoft.com/office/powerpoint/2010/main" val="285316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A88D-E9A8-011C-3648-1749FEC0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436EF49-14DE-BF98-1584-33C64F32F4C1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84476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Resultados de aprendizaje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39B3C12-4095-0D23-DCB8-AC9D4B19AC25}"/>
              </a:ext>
            </a:extLst>
          </p:cNvPr>
          <p:cNvSpPr txBox="1"/>
          <p:nvPr/>
        </p:nvSpPr>
        <p:spPr>
          <a:xfrm>
            <a:off x="1013124" y="3708020"/>
            <a:ext cx="18030526" cy="6182655"/>
          </a:xfrm>
          <a:prstGeom prst="rect">
            <a:avLst/>
          </a:prstGeom>
        </p:spPr>
        <p:txBody>
          <a:bodyPr vert="horz" wrap="square" lIns="0" tIns="11430" rIns="0" bIns="0" numCol="1" rtlCol="0">
            <a:spAutoFit/>
          </a:bodyPr>
          <a:lstStyle/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Diseñar e implementar la infraestructura tecnológica apropiada para el almacenamiento, procesamiento y acceso a los datos, considerando sus características y el uso que se requiera de ellos.</a:t>
            </a:r>
          </a:p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endParaRPr lang="es-419" sz="3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Establece políticas de almacenamiento, transmisión y uso de los datos, que aseguren su integridad, cumpliendo con las leyes y reglamentaciones existentes a nivel nacional e internacional.</a:t>
            </a:r>
          </a:p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endParaRPr lang="es-419" sz="3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755650" marR="5080" indent="-742950" algn="just">
              <a:lnSpc>
                <a:spcPct val="100800"/>
              </a:lnSpc>
              <a:spcBef>
                <a:spcPts val="90"/>
              </a:spcBef>
              <a:buAutoNum type="arabicPeriod"/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Organiza y planifica las tareas y los recursos necesarios para el desarrollo de un proyecto de análisis de datos, de forma que se cumpla con el objetivo establecido, cumpliendo las restricciones identificadas.</a:t>
            </a:r>
          </a:p>
        </p:txBody>
      </p:sp>
    </p:spTree>
    <p:extLst>
      <p:ext uri="{BB962C8B-B14F-4D97-AF65-F5344CB8AC3E}">
        <p14:creationId xmlns:p14="http://schemas.microsoft.com/office/powerpoint/2010/main" val="344428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0973-0E83-0D5B-6985-9F102569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7297A0A5-9964-6B7C-F10B-37B9463B03AD}"/>
              </a:ext>
            </a:extLst>
          </p:cNvPr>
          <p:cNvSpPr txBox="1"/>
          <p:nvPr/>
        </p:nvSpPr>
        <p:spPr>
          <a:xfrm>
            <a:off x="1013124" y="3944571"/>
            <a:ext cx="18182926" cy="5974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l">
              <a:lnSpc>
                <a:spcPct val="100800"/>
              </a:lnSpc>
              <a:spcBef>
                <a:spcPts val="90"/>
              </a:spcBef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El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curso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está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enmarcado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dentro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una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propuesta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trabajo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activo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colaborativo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cual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estudiante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tiene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oportunidad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revisar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sus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procesos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comprensión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producción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y, a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vez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apropiarse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estrategias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que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contribuyan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su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desempeño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profesional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 Con un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enfoque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empresarial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dotará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los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estudiantes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habilidades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abordar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problemas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cotidianos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utilizar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herramientas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actuales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entornos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empresariales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</a:p>
          <a:p>
            <a:pPr marL="12700" marR="5080" algn="l">
              <a:lnSpc>
                <a:spcPct val="100800"/>
              </a:lnSpc>
              <a:spcBef>
                <a:spcPts val="90"/>
              </a:spcBef>
            </a:pP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l">
              <a:lnSpc>
                <a:spcPct val="100800"/>
              </a:lnSpc>
              <a:spcBef>
                <a:spcPts val="90"/>
              </a:spcBef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metodología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implementada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desarrolla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considerando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cuatro puntos clave: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participación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activa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del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estudiante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proyectos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bajo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metodologías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ágiles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clases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magistrales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ejercicios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prácticos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fomentar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participación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activa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emplean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diversas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actividades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como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exposiciones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intercambio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conocimientos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preguntas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constantes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casos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Docentes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estudiantes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socializan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debaten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analizan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lo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aprendido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través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desafíos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temáticas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específicas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construyendo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ideas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conceptos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con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ejemplos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reales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presentaciones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toda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clase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AFFD624-2079-10F4-67F3-23E1A6DB79F0}"/>
              </a:ext>
            </a:extLst>
          </p:cNvPr>
          <p:cNvSpPr txBox="1">
            <a:spLocks/>
          </p:cNvSpPr>
          <p:nvPr/>
        </p:nvSpPr>
        <p:spPr>
          <a:xfrm>
            <a:off x="982390" y="2301875"/>
            <a:ext cx="7545660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chemeClr val="bg1"/>
                </a:solidFill>
                <a:latin typeface="Arial"/>
                <a:cs typeface="Arial"/>
              </a:rPr>
              <a:t>Metodología</a:t>
            </a:r>
            <a:endParaRPr lang="es-CO" sz="49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077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08E0-6CAE-F97C-5E04-651A44CF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CFF33648-1434-8C41-A027-2F84475F060D}"/>
              </a:ext>
            </a:extLst>
          </p:cNvPr>
          <p:cNvSpPr txBox="1"/>
          <p:nvPr/>
        </p:nvSpPr>
        <p:spPr>
          <a:xfrm>
            <a:off x="1013124" y="3944571"/>
            <a:ext cx="18182926" cy="5974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l">
              <a:lnSpc>
                <a:spcPct val="100800"/>
              </a:lnSpc>
              <a:spcBef>
                <a:spcPts val="90"/>
              </a:spcBef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impulsar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independiente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organización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planificación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proyectos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así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como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análisis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casos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reales,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desarrollan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cuatro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proyectos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lo largo del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curso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uno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por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cada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corte y uno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integrador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que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abarca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todos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los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temas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vistos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clase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 Cada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proyecto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incluye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un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repositorio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herramientas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como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GitHub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una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documentación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con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evidencias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seguido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una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sustentación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clase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proyectos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implementan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con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metodologías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ágiles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desarrollar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habilidades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necesarias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ámbito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empresarial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</a:p>
          <a:p>
            <a:pPr marL="12700" marR="5080" algn="l">
              <a:lnSpc>
                <a:spcPct val="100800"/>
              </a:lnSpc>
              <a:spcBef>
                <a:spcPts val="90"/>
              </a:spcBef>
            </a:pP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l">
              <a:lnSpc>
                <a:spcPct val="100800"/>
              </a:lnSpc>
              <a:spcBef>
                <a:spcPts val="90"/>
              </a:spcBef>
            </a:pP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Además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utiliza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clase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magistral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exponer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conceptos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teóricos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casos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problemáticas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relacionadas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al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temario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sentando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las bases del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conocimiento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que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fortalecen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con las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demás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metodologías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 Se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recurre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casos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de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estudio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analizar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problemáticas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soluciones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situaciones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empresariales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reales,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así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como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talleres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ejercicios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prácticos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afianzar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conocimientos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teóricos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y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habilidades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para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trabajar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con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herramientas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utilizadas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en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el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mundo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laboral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sz="3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2CEA06B-D5B1-9D29-147F-790DD4848B6B}"/>
              </a:ext>
            </a:extLst>
          </p:cNvPr>
          <p:cNvSpPr txBox="1">
            <a:spLocks/>
          </p:cNvSpPr>
          <p:nvPr/>
        </p:nvSpPr>
        <p:spPr>
          <a:xfrm>
            <a:off x="982390" y="2301875"/>
            <a:ext cx="7545660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chemeClr val="bg1"/>
                </a:solidFill>
                <a:latin typeface="Arial"/>
                <a:cs typeface="Arial"/>
              </a:rPr>
              <a:t>Metodología</a:t>
            </a:r>
            <a:endParaRPr lang="es-CO" sz="49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1892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59CE-2DE7-E6FA-CD79-028D5DFA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0D6B9DE-E2D0-C77A-881F-E6CEE0E40D9B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84476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Contenido temático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87A9D29-6ABB-BD0C-2AF8-E5AD0F6F938A}"/>
              </a:ext>
            </a:extLst>
          </p:cNvPr>
          <p:cNvSpPr txBox="1"/>
          <p:nvPr/>
        </p:nvSpPr>
        <p:spPr>
          <a:xfrm>
            <a:off x="1013124" y="3708020"/>
            <a:ext cx="18030526" cy="6831935"/>
          </a:xfrm>
          <a:prstGeom prst="rect">
            <a:avLst/>
          </a:prstGeom>
        </p:spPr>
        <p:txBody>
          <a:bodyPr vert="horz" wrap="square" lIns="0" tIns="11430" rIns="0" bIns="0" numCol="2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b="1" dirty="0">
                <a:solidFill>
                  <a:schemeClr val="tx1"/>
                </a:solidFill>
                <a:latin typeface="Arial"/>
                <a:cs typeface="Arial"/>
              </a:rPr>
              <a:t>1. Modelos dimensionales y DW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Tipos de bases de datos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Modelos dimensionales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Tipos de esquemas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Datawarehouse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endParaRPr lang="es-419" sz="3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endParaRPr lang="es-419" sz="3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b="1" dirty="0">
                <a:solidFill>
                  <a:schemeClr val="tx1"/>
                </a:solidFill>
                <a:latin typeface="Arial"/>
                <a:cs typeface="Arial"/>
              </a:rPr>
              <a:t>2. Calidad y seguridad de los datos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Calidad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Seguridad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Pipelines de evaluación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Herramientas y tecnologías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b="1" dirty="0">
                <a:solidFill>
                  <a:schemeClr val="tx1"/>
                </a:solidFill>
                <a:latin typeface="Arial"/>
                <a:cs typeface="Arial"/>
              </a:rPr>
              <a:t>3. Creación de pipelines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Pipelines y orquestación</a:t>
            </a:r>
          </a:p>
          <a:p>
            <a:pPr marL="12700" marR="5080" lvl="2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Orquestado de pipeline de datos</a:t>
            </a:r>
          </a:p>
          <a:p>
            <a:pPr marL="12700" marR="5080" lvl="2" algn="just">
              <a:lnSpc>
                <a:spcPct val="1008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	Pipelines de datos</a:t>
            </a:r>
          </a:p>
        </p:txBody>
      </p:sp>
    </p:spTree>
    <p:extLst>
      <p:ext uri="{BB962C8B-B14F-4D97-AF65-F5344CB8AC3E}">
        <p14:creationId xmlns:p14="http://schemas.microsoft.com/office/powerpoint/2010/main" val="327166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A482-E5F4-60CB-2B80-06A97737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680848E-3C15-2AF3-D284-3CB591DBF3FD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84476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Prerrequisitos importantes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8BA80BE-44D8-E30A-9612-6BDCBC3EBC3A}"/>
              </a:ext>
            </a:extLst>
          </p:cNvPr>
          <p:cNvSpPr txBox="1"/>
          <p:nvPr/>
        </p:nvSpPr>
        <p:spPr>
          <a:xfrm>
            <a:off x="1013124" y="3708020"/>
            <a:ext cx="18030526" cy="5687263"/>
          </a:xfrm>
          <a:prstGeom prst="rect">
            <a:avLst/>
          </a:prstGeom>
        </p:spPr>
        <p:txBody>
          <a:bodyPr vert="horz" wrap="square" lIns="0" tIns="11430" rIns="0" bIns="0" numCol="2" rtlCol="0">
            <a:spAutoFit/>
          </a:bodyPr>
          <a:lstStyle/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Dominio en SQL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Modelos relacionales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Normalización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Teorema CAP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NoSQL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Tipos de datos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Docker y docker compose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Conocimientos básicos de linux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Streaming y batch</a:t>
            </a:r>
          </a:p>
          <a:p>
            <a:pPr marL="12700" marR="5080" algn="just">
              <a:lnSpc>
                <a:spcPct val="200000"/>
              </a:lnSpc>
              <a:spcBef>
                <a:spcPts val="90"/>
              </a:spcBef>
            </a:pPr>
            <a:r>
              <a:rPr lang="es-419" sz="3600" dirty="0">
                <a:solidFill>
                  <a:schemeClr val="tx1"/>
                </a:solidFill>
                <a:latin typeface="Arial"/>
                <a:cs typeface="Arial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60209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C2D2-F59E-4373-AA98-537227E2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F5B0E89F-ABDF-08F3-E888-C4FAF51B6430}"/>
              </a:ext>
            </a:extLst>
          </p:cNvPr>
          <p:cNvSpPr txBox="1">
            <a:spLocks/>
          </p:cNvSpPr>
          <p:nvPr/>
        </p:nvSpPr>
        <p:spPr>
          <a:xfrm>
            <a:off x="994846" y="2653324"/>
            <a:ext cx="84476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Formas de evaluación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7E9A95-2B00-A95A-FF88-5A04FBFA4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59452"/>
              </p:ext>
            </p:extLst>
          </p:nvPr>
        </p:nvGraphicFramePr>
        <p:xfrm>
          <a:off x="1103848" y="3643924"/>
          <a:ext cx="17896403" cy="703995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08335">
                  <a:extLst>
                    <a:ext uri="{9D8B030D-6E8A-4147-A177-3AD203B41FA5}">
                      <a16:colId xmlns:a16="http://schemas.microsoft.com/office/drawing/2014/main" val="1632217862"/>
                    </a:ext>
                  </a:extLst>
                </a:gridCol>
                <a:gridCol w="4273430">
                  <a:extLst>
                    <a:ext uri="{9D8B030D-6E8A-4147-A177-3AD203B41FA5}">
                      <a16:colId xmlns:a16="http://schemas.microsoft.com/office/drawing/2014/main" val="1774962261"/>
                    </a:ext>
                  </a:extLst>
                </a:gridCol>
                <a:gridCol w="7752637">
                  <a:extLst>
                    <a:ext uri="{9D8B030D-6E8A-4147-A177-3AD203B41FA5}">
                      <a16:colId xmlns:a16="http://schemas.microsoft.com/office/drawing/2014/main" val="11131245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27006584"/>
                    </a:ext>
                  </a:extLst>
                </a:gridCol>
                <a:gridCol w="2776001">
                  <a:extLst>
                    <a:ext uri="{9D8B030D-6E8A-4147-A177-3AD203B41FA5}">
                      <a16:colId xmlns:a16="http://schemas.microsoft.com/office/drawing/2014/main" val="132371993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CO" sz="2400" dirty="0"/>
                        <a:t>#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CO" sz="2400" dirty="0"/>
                        <a:t>Elementos de evaluación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 sz="2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% Composición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% Global reportado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328803"/>
                  </a:ext>
                </a:extLst>
              </a:tr>
              <a:tr h="761071">
                <a:tc rowSpan="3">
                  <a:txBody>
                    <a:bodyPr/>
                    <a:lstStyle/>
                    <a:p>
                      <a:r>
                        <a:rPr lang="en-CO" sz="2400" b="1" dirty="0"/>
                        <a:t>1</a:t>
                      </a:r>
                      <a:endParaRPr lang="en-CO" sz="24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Workshop 001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Proyecto práctico – Repositorio Github, documento y sustentación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15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O" sz="2800" b="1" dirty="0"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168221"/>
                  </a:ext>
                </a:extLst>
              </a:tr>
              <a:tr h="422817">
                <a:tc vMerge="1">
                  <a:txBody>
                    <a:bodyPr/>
                    <a:lstStyle/>
                    <a:p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Actividades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Talleres, quizzes, actividades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5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CO" sz="2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937145"/>
                  </a:ext>
                </a:extLst>
              </a:tr>
              <a:tr h="761071">
                <a:tc vMerge="1">
                  <a:txBody>
                    <a:bodyPr/>
                    <a:lstStyle/>
                    <a:p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Entregable proyecto #1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Documento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escrito</a:t>
                      </a:r>
                      <a:r>
                        <a:rPr lang="en-US" sz="2400" dirty="0"/>
                        <a:t> y </a:t>
                      </a:r>
                      <a:r>
                        <a:rPr lang="en-US" sz="2400" dirty="0" err="1"/>
                        <a:t>sustentación</a:t>
                      </a:r>
                      <a:r>
                        <a:rPr lang="en-US" sz="2400" dirty="0"/>
                        <a:t> de la </a:t>
                      </a:r>
                      <a:r>
                        <a:rPr lang="en-US" sz="2400" dirty="0" err="1"/>
                        <a:t>primera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fase</a:t>
                      </a:r>
                      <a:r>
                        <a:rPr lang="en-US" sz="2400" dirty="0"/>
                        <a:t> del </a:t>
                      </a:r>
                      <a:r>
                        <a:rPr lang="en-US" sz="2400" dirty="0" err="1"/>
                        <a:t>proyecto</a:t>
                      </a:r>
                      <a:r>
                        <a:rPr lang="en-US" sz="2400" dirty="0"/>
                        <a:t>.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10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CO" sz="2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950102"/>
                  </a:ext>
                </a:extLst>
              </a:tr>
              <a:tr h="761071">
                <a:tc rowSpan="3">
                  <a:txBody>
                    <a:bodyPr/>
                    <a:lstStyle/>
                    <a:p>
                      <a:r>
                        <a:rPr lang="en-CO" sz="2400" b="1" dirty="0"/>
                        <a:t>2</a:t>
                      </a:r>
                      <a:endParaRPr lang="en-CO" sz="24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2400" dirty="0"/>
                        <a:t>Workshop 002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Proyecto práctico – Repositorio Github, documento y sustentación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15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O" sz="2800" b="1" dirty="0"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18705"/>
                  </a:ext>
                </a:extLst>
              </a:tr>
              <a:tr h="422817">
                <a:tc vMerge="1">
                  <a:txBody>
                    <a:bodyPr/>
                    <a:lstStyle/>
                    <a:p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Actividades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Talleres, quizzes, actividades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5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CO" sz="2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771518"/>
                  </a:ext>
                </a:extLst>
              </a:tr>
              <a:tr h="761071">
                <a:tc vMerge="1">
                  <a:txBody>
                    <a:bodyPr/>
                    <a:lstStyle/>
                    <a:p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2400" dirty="0"/>
                        <a:t>Entregable proyecto #2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Documento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escrito</a:t>
                      </a:r>
                      <a:r>
                        <a:rPr lang="en-US" sz="2400" dirty="0"/>
                        <a:t> y </a:t>
                      </a:r>
                      <a:r>
                        <a:rPr lang="en-US" sz="2400" dirty="0" err="1"/>
                        <a:t>sustentación</a:t>
                      </a:r>
                      <a:r>
                        <a:rPr lang="en-US" sz="2400" dirty="0"/>
                        <a:t> de la </a:t>
                      </a:r>
                      <a:r>
                        <a:rPr lang="en-US" sz="2400" dirty="0" err="1"/>
                        <a:t>segunda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fase</a:t>
                      </a:r>
                      <a:r>
                        <a:rPr lang="en-US" sz="2400" dirty="0"/>
                        <a:t> del </a:t>
                      </a:r>
                      <a:r>
                        <a:rPr lang="en-US" sz="2400" dirty="0" err="1"/>
                        <a:t>proyecto</a:t>
                      </a:r>
                      <a:r>
                        <a:rPr lang="en-US" sz="2400" dirty="0"/>
                        <a:t>.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10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CO" sz="2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867259"/>
                  </a:ext>
                </a:extLst>
              </a:tr>
              <a:tr h="761071">
                <a:tc rowSpan="2">
                  <a:txBody>
                    <a:bodyPr/>
                    <a:lstStyle/>
                    <a:p>
                      <a:r>
                        <a:rPr lang="en-CO" sz="2400" b="1" dirty="0"/>
                        <a:t>3</a:t>
                      </a:r>
                      <a:endParaRPr lang="en-CO" sz="24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2400" dirty="0"/>
                        <a:t>Workshop 003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Proyecto práctico – Repositorio Github, documento y sustentación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15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O" sz="2800" b="1" dirty="0"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908656"/>
                  </a:ext>
                </a:extLst>
              </a:tr>
              <a:tr h="422817">
                <a:tc vMerge="1">
                  <a:txBody>
                    <a:bodyPr/>
                    <a:lstStyle/>
                    <a:p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Actividades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O" sz="2400" dirty="0"/>
                        <a:t>Talleres, quizzes, actividades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5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CO" sz="2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57018"/>
                  </a:ext>
                </a:extLst>
              </a:tr>
              <a:tr h="761071">
                <a:tc>
                  <a:txBody>
                    <a:bodyPr/>
                    <a:lstStyle/>
                    <a:p>
                      <a:r>
                        <a:rPr lang="en-CO" sz="2400" b="1" dirty="0"/>
                        <a:t>4</a:t>
                      </a:r>
                      <a:endParaRPr lang="en-CO" sz="24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2400" dirty="0"/>
                        <a:t>Entregable final proyecto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Documento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escrito</a:t>
                      </a:r>
                      <a:r>
                        <a:rPr lang="en-US" sz="2400" dirty="0"/>
                        <a:t> y </a:t>
                      </a:r>
                      <a:r>
                        <a:rPr lang="en-US" sz="2400" dirty="0" err="1"/>
                        <a:t>sustentación</a:t>
                      </a:r>
                      <a:r>
                        <a:rPr lang="en-US" sz="2400" dirty="0"/>
                        <a:t> del </a:t>
                      </a:r>
                      <a:r>
                        <a:rPr lang="en-US" sz="2400" dirty="0" err="1"/>
                        <a:t>proyecto</a:t>
                      </a:r>
                      <a:r>
                        <a:rPr lang="en-US" sz="2400" dirty="0"/>
                        <a:t>.</a:t>
                      </a:r>
                      <a:endParaRPr lang="en-CO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20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2800" b="1" dirty="0"/>
                        <a:t>20</a:t>
                      </a:r>
                      <a:endParaRPr lang="en-CO" sz="2800" b="1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75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5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EA20-3A06-72F4-C6B9-DA85DB55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5DA83CD-3332-1EF2-CDE0-9BAA0F201B14}"/>
              </a:ext>
            </a:extLst>
          </p:cNvPr>
          <p:cNvSpPr txBox="1"/>
          <p:nvPr/>
        </p:nvSpPr>
        <p:spPr>
          <a:xfrm>
            <a:off x="2853326" y="4469597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solidFill>
                  <a:schemeClr val="bg1"/>
                </a:solidFill>
                <a:latin typeface="Arial"/>
                <a:cs typeface="Arial"/>
              </a:rPr>
              <a:t>03</a:t>
            </a:r>
            <a:endParaRPr sz="345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6F4374C3-2798-F6AB-8C7D-7CEB6E231E81}"/>
              </a:ext>
            </a:extLst>
          </p:cNvPr>
          <p:cNvSpPr/>
          <p:nvPr/>
        </p:nvSpPr>
        <p:spPr>
          <a:xfrm>
            <a:off x="7995133" y="5744765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C245E5C-56B1-7073-4801-9FDBBAFE33C6}"/>
              </a:ext>
            </a:extLst>
          </p:cNvPr>
          <p:cNvSpPr txBox="1">
            <a:spLocks/>
          </p:cNvSpPr>
          <p:nvPr/>
        </p:nvSpPr>
        <p:spPr>
          <a:xfrm>
            <a:off x="8343994" y="5654675"/>
            <a:ext cx="7727851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chemeClr val="bg1"/>
                </a:solidFill>
                <a:latin typeface="Arial"/>
                <a:cs typeface="Arial"/>
              </a:rPr>
              <a:t>Evaluación diagnóstica</a:t>
            </a:r>
            <a:endParaRPr lang="es-CO" sz="49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270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lose-up of plant leaves">
            <a:extLst>
              <a:ext uri="{FF2B5EF4-FFF2-40B4-BE49-F238E27FC236}">
                <a16:creationId xmlns:a16="http://schemas.microsoft.com/office/drawing/2014/main" id="{6E9CA452-BD99-C944-D349-5B259C83B6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3" r="9291"/>
          <a:stretch/>
        </p:blipFill>
        <p:spPr>
          <a:xfrm>
            <a:off x="12774237" y="1710786"/>
            <a:ext cx="6801245" cy="9072245"/>
          </a:xfrm>
          <a:prstGeom prst="roundRect">
            <a:avLst>
              <a:gd name="adj" fmla="val 4120"/>
            </a:avLst>
          </a:prstGeom>
          <a:ln w="190500" cap="rnd">
            <a:noFill/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50CE9227-14EC-6676-633A-27DC039F683C}"/>
              </a:ext>
            </a:extLst>
          </p:cNvPr>
          <p:cNvSpPr txBox="1">
            <a:spLocks/>
          </p:cNvSpPr>
          <p:nvPr/>
        </p:nvSpPr>
        <p:spPr>
          <a:xfrm>
            <a:off x="994846" y="2606675"/>
            <a:ext cx="4561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solidFill>
                  <a:srgbClr val="C00000"/>
                </a:solidFill>
                <a:latin typeface="Arial"/>
                <a:cs typeface="Arial"/>
              </a:rPr>
              <a:t>Evaluación</a:t>
            </a:r>
            <a:endParaRPr lang="es-CO" sz="495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56D383C-F45B-2262-46CF-DDFF04E0783A}"/>
              </a:ext>
            </a:extLst>
          </p:cNvPr>
          <p:cNvSpPr txBox="1"/>
          <p:nvPr/>
        </p:nvSpPr>
        <p:spPr>
          <a:xfrm>
            <a:off x="1013124" y="3708020"/>
            <a:ext cx="10943926" cy="4010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Ingresar al siguiente enlace o QR para realizar la evaluación diagnóstica, con un tiempo de alrededor de 2 minutos por pregunta.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endParaRPr lang="es-419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s-419" sz="3200" dirty="0">
                <a:solidFill>
                  <a:schemeClr val="tx1"/>
                </a:solidFill>
                <a:latin typeface="Arial"/>
                <a:cs typeface="Arial"/>
              </a:rPr>
              <a:t>La evaluación no es calificable, pero servirá para nivelar conocimientos y tener un panorama completo del curso.</a:t>
            </a: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endParaRPr lang="es-419" sz="3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0800"/>
              </a:lnSpc>
              <a:spcBef>
                <a:spcPts val="90"/>
              </a:spcBef>
            </a:pP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https://</a:t>
            </a:r>
            <a:r>
              <a:rPr lang="en-US" sz="3200" dirty="0" err="1">
                <a:solidFill>
                  <a:schemeClr val="tx1"/>
                </a:solidFill>
                <a:latin typeface="Arial"/>
                <a:cs typeface="Arial"/>
              </a:rPr>
              <a:t>forms.gle</a:t>
            </a:r>
            <a:r>
              <a:rPr lang="en-US" sz="3200" dirty="0">
                <a:solidFill>
                  <a:schemeClr val="tx1"/>
                </a:solidFill>
                <a:latin typeface="Arial"/>
                <a:cs typeface="Arial"/>
              </a:rPr>
              <a:t>/Gn3z6URS9DccGMDr8</a:t>
            </a:r>
            <a:endParaRPr sz="3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13C22-1224-ADE3-3B7C-21A3D28E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5268" y="4593066"/>
            <a:ext cx="3299182" cy="330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91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4368EB6-AE6B-11BC-2794-EFB20EF8FEF0}"/>
              </a:ext>
            </a:extLst>
          </p:cNvPr>
          <p:cNvSpPr txBox="1"/>
          <p:nvPr/>
        </p:nvSpPr>
        <p:spPr>
          <a:xfrm>
            <a:off x="3194050" y="2759075"/>
            <a:ext cx="14020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0" b="1" dirty="0">
                <a:solidFill>
                  <a:schemeClr val="bg1"/>
                </a:solidFill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741491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3698</TotalTime>
  <Words>896</Words>
  <Application>Microsoft Macintosh PowerPoint</Application>
  <PresentationFormat>Custom</PresentationFormat>
  <Paragraphs>130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recursos pptx copia</dc:title>
  <cp:lastModifiedBy>Daniel Felipe Romero Bernal</cp:lastModifiedBy>
  <cp:revision>26</cp:revision>
  <dcterms:created xsi:type="dcterms:W3CDTF">2024-07-31T19:11:45Z</dcterms:created>
  <dcterms:modified xsi:type="dcterms:W3CDTF">2026-07-27T20:22:13Z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2024-07-31T00:00:00Z</vt:filetime>
  </property>
  <property fmtid="{D5CDD505-2E9C-101B-9397-08002B2CF9AE}" pid="3" name="Creator">
    <vt:lpwstr>Adobe Illustrator 28.6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2024-07-31T00:00:00Z</vt:filetime>
  </property>
  <property fmtid="{D5CDD505-2E9C-101B-9397-08002B2CF9AE}" pid="6" name="Producer">
    <vt:lpwstr>Adobe PDF library 17.00</vt:lpwstr>
  </property>
</Properties>
</file>